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1F4E79"/>
                </a:solidFill>
                <a:latin typeface="Arial"/>
              </a:defRPr>
            </a:pPr>
            <a:r>
              <a:t>Yapay Zekâ Destekli, Çoklu Hastalık İzleme ve</a:t>
            </a:r>
          </a:p>
          <a:p>
            <a:pPr>
              <a:defRPr sz="3200" b="1">
                <a:solidFill>
                  <a:srgbClr val="1F4E79"/>
                </a:solidFill>
                <a:latin typeface="Arial"/>
              </a:defRPr>
            </a:pPr>
            <a:r>
              <a:t>Bilişsel Destek Odaklı Akıllı Sağlık Robotu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latin typeface="Arial"/>
              </a:defRPr>
            </a:pPr>
            <a:r>
              <a:t>TÜBİTAK 2209-A Üniversite Öğrencileri Araştırma Projeleri Destekleme Programı</a:t>
            </a:r>
          </a:p>
          <a:p>
            <a:pPr>
              <a:defRPr sz="1800">
                <a:latin typeface="Arial"/>
              </a:defRPr>
            </a:pPr>
            <a:endParaRPr/>
          </a:p>
          <a:p>
            <a:pPr>
              <a:defRPr sz="1800">
                <a:latin typeface="Arial"/>
              </a:defRPr>
            </a:pPr>
            <a:r>
              <a:t>Proje Ekibi: Dilara GEDÜK, Arda AKKUŞ, Burak DEMİR</a:t>
            </a:r>
          </a:p>
          <a:p>
            <a:pPr>
              <a:defRPr sz="1800">
                <a:latin typeface="Arial"/>
              </a:defRPr>
            </a:pPr>
            <a:r>
              <a:t>Danışman: Öğr. Gör. Muhammed Canhakan BODUR</a:t>
            </a:r>
          </a:p>
          <a:p>
            <a:pPr>
              <a:defRPr sz="1800">
                <a:latin typeface="Arial"/>
              </a:defRPr>
            </a:pPr>
            <a:r>
              <a:t>Kastamonu Üniversitesi – Tosya MYO Yapay Zekâ Operatörlüğü Programı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1. Problem Tanımı ve Motivasyon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Demans ve Eşlik Eden Kronik Hastalıklar: 65+ yaş bireylerde diyabet ve hipertansiyonla birlikte çoklu ilaç kullanımı (polifarmasi) yaygındır.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Geleneksel İlaç Kutularının Yetersizliği: Mevcut kutular yalnızca pasif sesli/ışıklı alarm verir; ilacın kimin tarafından alındığını veya gerçekten içilip içilmediğini doğrulayamaz.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Bulut Bağımlılığı ve Mahremiyet Sorunu: Mevcut yapay zekâ asistanları internet kesildiğinde durmakta ve yaşlıların mahrem görüntü/ses verilerini dış sunuculara taşımaktadır.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Etik ve Tıbbi Sınır: Geliştirilecek prototip klinik tanı koymaz ve hekim kararının yerine geçmez; reçeteye bağlı güvenli bir mühendislik destek prototipidir.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2. Literatürdeki Boşluk ve Projenin Özgün Değeri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Biyometrik Kullanıcı-İlaç Eşleşmesi: Kamera ile yüz doğrulaması yapılarak yalnızca doğru kullanıcı yaklaştığında ilgili ilaç haznesi açılır.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Çift Katmanlı (Hibrit) İlaç Alım Doğrulaması: Hazne içi fiziksel sensör (IR/Switch) verisi ile MediaPipe el-ağız yörünge analizi (D(t) Öklid mesafesi) birleştirilir.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Offline-First (Çevrimdışı Kurulum) ve Yerel SQLite: İnternet bağımlılığı olmadan ilk kurulum sihirbazı ile çalışır; veriler yerel SQLite veritabanında tutulur.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TÜBİTAK Öncelikli Alanlar Uyumu: Yapay Zekâ, Robotik-Mekatronik, Nesnelerin İnterneti (IoT) ve Tıbbi Cihaz Teknolojileri alanlarıyla tam kesişim.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3. Araştırma Sorusu ve Hipotezler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Araştırma Sorusu: Yerel SQLite, Raspberry Pi-Arduino haberleşmesi ve hibrit doğrulama (kamera + fiziksel sensör) katmanlarıyla çalışan akıllı sağlık robotu, geleneksel kutulara kıyasla izlenebilirliği ve erişim güvenliğini artırabilir mi?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H1 (Erişim Güvenliği): Kamera tabanlı yüz doğrulama ve seçici hazne kilitleme, yanlış hazneye erişim riskini &gt;=%90 doğrulukla önler.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H2 (Hibrit Gözlem): Fiziksel sensör + el-ağız hareketi analizi, ilaç alma eyleminin tespit güvenilirliğini &gt;=%85 F1-skoru seviyesine çıkarır.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H3 (Kesintisiz Çalışma): PySerial kilitli uyarı döngüsü ve yerel SQLite mimarisi, internet kesildiğinde dahi &lt;2 sn yanıt süresiyle kesintisiz kayıt sağlar.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4. Sistem Mimarisi ve Donanım/Yazılım Altyapısı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1. Algılama Katmanı: UVC/Pi Kamera Modülü, Yönlü Harici Mikrofon, Hazne İçi Kızılötesi (IR) Engel / Mikro-Switch Sensörleri.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2. Karar Verme ve Veri Yönetimi (Raspberry Pi): Python, OpenCV (CLAHE + Yüz Gömme Vektörü), MediaPipe Hands &amp; Face Mesh, Yerel SQLite3 Veritabanı.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3. Eylemlendirme ve İzleme (Arduino + IoT): PySerial (UART 9600 baud) çift yönlü haberleşme, 3D baskılı (PLA) döner ilaç tamburu, MG90S Servo motorlar, OLED ekran ve Streamlit tabanlı yerel IoT izleme paneli.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5. Çevrimdışı Kurulum ve SQLite Veritabanı Şeması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patient_profile Tablosu: id (PK), full_name, condition_type (Demans/Diyabet/Hipertansiyon), face_encoding (128-boyutlu BLOB vektör), emergency_contact, setup_completed (0/1).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medication_schedule Tablosu: id (PK), compartment_no (1-4), medicine_name, dosage_time (HH:MM), status ('Bekliyor', 'Alindi', 'Atlandi').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event_logs Tablosu: id (PK), timestamp, event_type ('YUZ_DOGRULANDI', 'HAZNE_ACILDI', 'ILAC_ALINDI', 'UYARI'), verification_score, details.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Avantaj: Dış bulut sunucusuna ihtiyaç duymadan uç cihazda (Edge AI) %100 veri mahremiyeti ve bütünlüğü.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182880"/>
            <a:ext cx="9011265" cy="822960"/>
          </a:xfrm>
        </p:spPr>
        <p:txBody>
          <a:bodyPr>
            <a:normAutofit/>
          </a:bodyPr>
          <a:lstStyle/>
          <a:p>
            <a:pPr>
              <a:defRPr sz="2600" b="1">
                <a:solidFill>
                  <a:srgbClr val="1F4E79"/>
                </a:solidFill>
                <a:latin typeface="Arial"/>
              </a:defRPr>
            </a:pPr>
            <a:r>
              <a:rPr dirty="0"/>
              <a:t>6. </a:t>
            </a:r>
            <a:r>
              <a:rPr dirty="0" err="1"/>
              <a:t>Mühendislik</a:t>
            </a:r>
            <a:r>
              <a:rPr dirty="0"/>
              <a:t> </a:t>
            </a:r>
            <a:r>
              <a:rPr dirty="0" err="1"/>
              <a:t>Algoritma</a:t>
            </a:r>
            <a:r>
              <a:rPr dirty="0"/>
              <a:t> </a:t>
            </a:r>
            <a:r>
              <a:rPr dirty="0" err="1"/>
              <a:t>Akış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Karar</a:t>
            </a:r>
            <a:r>
              <a:rPr dirty="0"/>
              <a:t> </a:t>
            </a:r>
            <a:r>
              <a:rPr dirty="0" err="1"/>
              <a:t>Ağacı</a:t>
            </a:r>
            <a:r>
              <a:rPr dirty="0"/>
              <a:t> </a:t>
            </a:r>
            <a:r>
              <a:rPr dirty="0" err="1"/>
              <a:t>Şeması</a:t>
            </a:r>
            <a:endParaRPr dirty="0"/>
          </a:p>
        </p:txBody>
      </p:sp>
      <p:pic>
        <p:nvPicPr>
          <p:cNvPr id="3" name="Picture 2" descr="muhendislik_akis_sema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05840"/>
            <a:ext cx="490830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7. Proje Yönetimi ve 12 Aylık Çalışma Takvimi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Faaliyet 1 (1–2. Aylar | Katkı: %20): 3D Mekanik tambur/gövde üretimi, Çevrimdışı Kurulum Sihirbazı ve SQLite veritabanının kodlanması.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Faaliyet 2 (3–4. Aylar | Katkı: %20): Python-Arduino (PySerial) haberleşmesi, servo kontrolü ve fiziksel sensör kilitli uyarı döngüsü (&gt;=%95 mekanik başarı).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Faaliyet 3 (5–7. Aylar | Katkı: %25): OpenCV yüz doğrulama (&gt;=%90 doğruluk) ve MediaPipe el-ağız hareketi analiz modellerinin (&gt;=%85 F1) geliştirilmesi.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Faaliyet 4 (8–10. Aylar | Katkı: %20): Sesli etkileşim (TTS/STT), diyabet/hipertansiyon hatırlatma profilleri ve Streamlit IoT paneli (&lt;2 sn yanıt).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Faaliyet 5 (11–12. Aylar | Katkı: %15): 200+ kontrollü senaryo ile pilot testler, kalibrasyon, hata analizi ve sonuç raporlaması.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8. Risk Yönetimi ve B Planları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Düşük Işık / Kamera Açısı Riski: CLAHE histogram eşitleme + gövde üzerinde difüzörlü LED aydınlatma; belirsizlikte sesli parola veya fiziksel onay butonu.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El-Ağız Oklüzyon (Kapanma) Riski: Hibrit yapı sayesinde hazne içi fiziksel sensör (IR/Switch) birincil kanıt sayılır ve sesli onay ile desteklenir.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Ortam Gürültüsü Riski: Yönlü mikrofon + gürültü filtresi; yüksek gürültüde OLED ekran ve fiziksel buton ile etkileşim.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Mekanik Sıkışma ve Ağ Kesintisi: +-0.4 mm toleranslı CAD tasarımı, metal dişli MG90S servo; ağ kesintisinde yerel SQLite kaydı ve otomatik senkronizasyon.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F4E79"/>
                </a:solidFill>
                <a:latin typeface="Arial"/>
              </a:defRPr>
            </a:pPr>
            <a:r>
              <a:t>9. Yaygın Etki ve Gelecek Vizyonu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Bilimsel/Akademik Çıktı: Ulusal öğrenci kongresinde veya mühendislik sempozyumunda 1 adet bildiri sunumu; MYO öğrencileri için açık kaynaklı referans mimari.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Ekonomik ve Sosyal Çıktı: Yaşlı bireylerin ilaç uyumunu destekleyen, hasta yakınlarının takip yükünü azaltan düşük maliyetli yerli masaüstü prototip.</a:t>
            </a:r>
          </a:p>
          <a:p>
            <a:pPr>
              <a:spcAft>
                <a:spcPts val="1000"/>
              </a:spcAft>
              <a:defRPr sz="1800">
                <a:latin typeface="Arial"/>
              </a:defRPr>
            </a:pPr>
            <a:r>
              <a:t>• Fikri Mülkiyet ve Yeni Projeler: Seçici hazne kilitleme ve hibrit doğrulama mekanizmasıyla Faydalı Model potansiyeli; TÜBİTAK 2209-B ve TEKNOFEST projelerine doğrudan temel.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1004</Words>
  <Application>Microsoft Office PowerPoint</Application>
  <PresentationFormat>Geniş ekran</PresentationFormat>
  <Paragraphs>47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Yapay Zekâ Destekli, Çoklu Hastalık İzleme ve Bilişsel Destek Odaklı Akıllı Sağlık Robotu</vt:lpstr>
      <vt:lpstr>1. Problem Tanımı ve Motivasyon</vt:lpstr>
      <vt:lpstr>2. Literatürdeki Boşluk ve Projenin Özgün Değeri</vt:lpstr>
      <vt:lpstr>3. Araştırma Sorusu ve Hipotezler</vt:lpstr>
      <vt:lpstr>4. Sistem Mimarisi ve Donanım/Yazılım Altyapısı</vt:lpstr>
      <vt:lpstr>5. Çevrimdışı Kurulum ve SQLite Veritabanı Şeması</vt:lpstr>
      <vt:lpstr>6. Mühendislik Algoritma Akış ve Karar Ağacı Şeması</vt:lpstr>
      <vt:lpstr>7. Proje Yönetimi ve 12 Aylık Çalışma Takvimi</vt:lpstr>
      <vt:lpstr>8. Risk Yönetimi ve B Planları</vt:lpstr>
      <vt:lpstr>9. Yaygın Etki ve Gelecek Vizyonu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Burak Windows</cp:lastModifiedBy>
  <cp:revision>2</cp:revision>
  <dcterms:created xsi:type="dcterms:W3CDTF">2013-01-27T09:14:16Z</dcterms:created>
  <dcterms:modified xsi:type="dcterms:W3CDTF">2026-10-16T02:34:18Z</dcterms:modified>
  <cp:category/>
</cp:coreProperties>
</file>